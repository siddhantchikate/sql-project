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3840480"/>
            <a:ext cx="2194560" cy="2194560"/>
          </a:xfrm>
          <a:prstGeom prst="ellipse">
            <a:avLst/>
          </a:prstGeom>
          <a:solidFill>
            <a:srgbClr val="D4AF3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4784141"/>
            <a:ext cx="307238" cy="307238"/>
          </a:xfrm>
          <a:prstGeom prst="ellipse">
            <a:avLst/>
          </a:prstGeom>
          <a:solidFill>
            <a:srgbClr val="1A142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49102" y="5392315"/>
            <a:ext cx="307238" cy="307238"/>
          </a:xfrm>
          <a:prstGeom prst="ellipse">
            <a:avLst/>
          </a:prstGeom>
          <a:solidFill>
            <a:srgbClr val="1A142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46843" y="5392315"/>
            <a:ext cx="307238" cy="307238"/>
          </a:xfrm>
          <a:prstGeom prst="ellipse">
            <a:avLst/>
          </a:prstGeom>
          <a:solidFill>
            <a:srgbClr val="1A142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95714" y="4784141"/>
            <a:ext cx="307238" cy="307238"/>
          </a:xfrm>
          <a:prstGeom prst="ellipse">
            <a:avLst/>
          </a:prstGeom>
          <a:solidFill>
            <a:srgbClr val="1A142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46843" y="4175966"/>
            <a:ext cx="307238" cy="307238"/>
          </a:xfrm>
          <a:prstGeom prst="ellipse">
            <a:avLst/>
          </a:prstGeom>
          <a:solidFill>
            <a:srgbClr val="1A1423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49102" y="4175966"/>
            <a:ext cx="307238" cy="307238"/>
          </a:xfrm>
          <a:prstGeom prst="ellipse">
            <a:avLst/>
          </a:prstGeom>
          <a:solidFill>
            <a:srgbClr val="1A1423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76027" y="4762195"/>
            <a:ext cx="351130" cy="351130"/>
          </a:xfrm>
          <a:prstGeom prst="ellipse">
            <a:avLst/>
          </a:prstGeom>
          <a:solidFill>
            <a:srgbClr val="1A1423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25912" y="5303520"/>
            <a:ext cx="1188720" cy="118872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617452" y="5814670"/>
            <a:ext cx="166421" cy="166421"/>
          </a:xfrm>
          <a:prstGeom prst="ellipse">
            <a:avLst/>
          </a:prstGeom>
          <a:solidFill>
            <a:srgbClr val="1A1423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27257" y="6144097"/>
            <a:ext cx="166421" cy="166421"/>
          </a:xfrm>
          <a:prstGeom prst="ellipse">
            <a:avLst/>
          </a:prstGeom>
          <a:solidFill>
            <a:srgbClr val="1A1423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46866" y="6144097"/>
            <a:ext cx="166421" cy="166421"/>
          </a:xfrm>
          <a:prstGeom prst="ellipse">
            <a:avLst/>
          </a:prstGeom>
          <a:solidFill>
            <a:srgbClr val="1A1423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856671" y="5814670"/>
            <a:ext cx="166421" cy="166421"/>
          </a:xfrm>
          <a:prstGeom prst="ellipse">
            <a:avLst/>
          </a:prstGeom>
          <a:solidFill>
            <a:srgbClr val="1A1423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46866" y="5485242"/>
            <a:ext cx="166421" cy="166421"/>
          </a:xfrm>
          <a:prstGeom prst="ellipse">
            <a:avLst/>
          </a:prstGeom>
          <a:solidFill>
            <a:srgbClr val="1A1423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7257" y="5485242"/>
            <a:ext cx="166421" cy="166421"/>
          </a:xfrm>
          <a:prstGeom prst="ellipse">
            <a:avLst/>
          </a:prstGeom>
          <a:solidFill>
            <a:srgbClr val="1A1423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25174" y="5802782"/>
            <a:ext cx="190195" cy="190195"/>
          </a:xfrm>
          <a:prstGeom prst="ellipse">
            <a:avLst/>
          </a:prstGeom>
          <a:solidFill>
            <a:srgbClr val="1A1423">
              <a:alpha val="12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19659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MOCK TEST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8803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Database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2960" y="3611880"/>
            <a:ext cx="502920" cy="4114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794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Practice Problems  ·  Basic · Intermediate · Hard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94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practice deck for the movie_theatre table — write each query,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and paste your result screenshot on the matching slide.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Concepts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mock test runs against a single 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TABLE: movie_theatre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167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movie_id   </a:t>
            </a:r>
            <a:pPr indent="0" marL="0">
              <a:buNone/>
            </a:pPr>
            <a:r>
              <a:rPr lang="en-US" sz="12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integer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66090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5328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 </a:t>
            </a:r>
            <a:pPr indent="0" marL="0">
              <a:buNone/>
            </a:pPr>
            <a:r>
              <a:rPr lang="en-US" sz="12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name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02666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28986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  </a:t>
            </a:r>
            <a:pPr indent="0" marL="0">
              <a:buNone/>
            </a:pPr>
            <a:r>
              <a:rPr lang="en-US" sz="12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39242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2644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release_year   </a:t>
            </a:r>
            <a:pPr indent="0" marL="0">
              <a:buNone/>
            </a:pPr>
            <a:r>
              <a:rPr lang="en-US" sz="12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 –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75818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630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  </a:t>
            </a:r>
            <a:pPr indent="0" marL="0">
              <a:buNone/>
            </a:pPr>
            <a:r>
              <a:rPr lang="en-US" sz="12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Decimal, 2.5 – 9.8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39959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theatre_name   </a:t>
            </a:r>
            <a:pPr indent="0" marL="0">
              <a:buNone/>
            </a:pPr>
            <a:r>
              <a:rPr lang="en-US" sz="12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theatres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48970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43000" y="43616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showtime   </a:t>
            </a:r>
            <a:pPr indent="0" marL="0">
              <a:buNone/>
            </a:pPr>
            <a:r>
              <a:rPr lang="en-US" sz="12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85546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47274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ticket_price   </a:t>
            </a:r>
            <a:pPr indent="0" marL="0">
              <a:buNone/>
            </a:pPr>
            <a:r>
              <a:rPr lang="en-US" sz="12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Decimal, currency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554480"/>
            <a:ext cx="5422392" cy="3657600"/>
          </a:xfrm>
          <a:prstGeom prst="roundRect">
            <a:avLst>
              <a:gd name="adj" fmla="val 2000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COVERED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2286000"/>
            <a:ext cx="1419149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2286000"/>
            <a:ext cx="14191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WHERE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57109" y="2286000"/>
            <a:ext cx="1598371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57109" y="2286000"/>
            <a:ext cx="15983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/ LIMIT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2816352"/>
            <a:ext cx="1867205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2816352"/>
            <a:ext cx="18672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405165" y="2816352"/>
            <a:ext cx="1687982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05165" y="2816352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HAVING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3346704"/>
            <a:ext cx="1598371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3346704"/>
            <a:ext cx="15983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36331" y="3346704"/>
            <a:ext cx="1419149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136331" y="3346704"/>
            <a:ext cx="14191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692640" y="3346704"/>
            <a:ext cx="971093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3346704"/>
            <a:ext cx="9710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3877056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0" y="387705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98664" y="3877056"/>
            <a:ext cx="1777594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598664" y="3877056"/>
            <a:ext cx="17775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/ ANY / ALL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513418" y="3877056"/>
            <a:ext cx="612648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513418" y="3877056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263226" y="3877056"/>
            <a:ext cx="971093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0263226" y="3877056"/>
            <a:ext cx="9710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0" y="4407408"/>
            <a:ext cx="1598371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400800" y="4407408"/>
            <a:ext cx="15983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136331" y="4407408"/>
            <a:ext cx="523037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136331" y="4407408"/>
            <a:ext cx="5230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796528" y="4407408"/>
            <a:ext cx="612648" cy="384048"/>
          </a:xfrm>
          <a:prstGeom prst="roundRect">
            <a:avLst>
              <a:gd name="adj" fmla="val 50000"/>
            </a:avLst>
          </a:prstGeom>
          <a:solidFill>
            <a:srgbClr val="1A142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796528" y="4407408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16636" y="55321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5236" y="56052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54" name="Text 52"/>
          <p:cNvSpPr txBox="1"/>
          <p:nvPr/>
        </p:nvSpPr>
        <p:spPr>
          <a:xfrm>
            <a:off x="1888236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311396" y="55321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39996" y="56052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57" name="Text 55"/>
          <p:cNvSpPr txBox="1"/>
          <p:nvPr/>
        </p:nvSpPr>
        <p:spPr>
          <a:xfrm>
            <a:off x="5682996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106156" y="55321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83A3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334756" y="56052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9477756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all movies that belong to the "Comedy" genre.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title and release_year of all movies, sorted by release_year from newest to oldest.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how many movies are in the table.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only the top 5 movies with the highest ticket_price.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all movie titles in UPPERCASE letters.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all movies whose title contains the word "Star".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cheapest and the most expensive ticket_price in the table.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all movies that were released before the year 2000.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all the different (unique) genres in the table.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all movies playing at "AMC Downtown".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average rating of movies in each genre.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how many movies each theatre has.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genres that have more than 400 movies.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all movies with a rating higher than the average rating of all movies.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each movie as "Cheap" if ticket_price is below 200, otherwise "Expensive".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total ticket revenue (sum of ticket_price) for each theatre.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movie titles from "Action" genre together with movie titles from "Comedy" genre in one single list (no repeats).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theatre that has the highest average ticket_price.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how many movies were released in each year, sorted from most recent year to oldest.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movie with the second highest rating (simple method using LIMIT and OFFSET).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if any movie exists with a ticket_price greater than 600.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VIEW showing only movies rated above 8, then select everything from that view.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each genre, find the movie with the highest rating.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every movie from 1 onward based on rating (highest rating gets number 1).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theatres where the average ticket_price is higher than the average ticket_price of the whole table.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all movies into 4 equal-sized groups based on ticket_price (cheapest group = 1, most expensive group = 4).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CTE that finds each theatre's total number of movies, then list only theatres with more than 300 movies.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top 3 movies (by rating) within each theatre.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pairs of movies that are shown at the exact same theatre and at the exact same showtime.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difference between each movie's ticket_price and the average ticket_price of its own genre.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Find, for each genre, how many movies are rated above 7 and how many are rated 7 or below.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A14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811512" y="62179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A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11512" y="6217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F4F2EE"/>
          </a:solidFill>
          <a:ln w="12700">
            <a:solidFill>
              <a:srgbClr val="D9D5C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371600"/>
            <a:ext cx="10268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theatres that show all of the genres that exist in the entire table.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3154680"/>
          </a:xfrm>
          <a:prstGeom prst="roundRect">
            <a:avLst>
              <a:gd name="adj" fmla="val 2319"/>
            </a:avLst>
          </a:prstGeom>
          <a:solidFill>
            <a:srgbClr val="FBFBFA"/>
          </a:solidFill>
          <a:ln w="19050">
            <a:solidFill>
              <a:srgbClr val="D9D5C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0908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 Paste your query result screenshot here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 of 32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Theatre SQL Mock Test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2026-09-06T05:23:25Z</dcterms:created>
  <dcterms:modified xsi:type="dcterms:W3CDTF">2026-09-06T05:23:25Z</dcterms:modified>
</cp:coreProperties>
</file>